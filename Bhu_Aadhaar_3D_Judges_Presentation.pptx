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0B"/>
          </a:solidFill>
          <a:ln>
            <a:solidFill>
              <a:srgbClr val="080D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भू-आधार 3D • BHU-AADHAAR 3D</a:t>
            </a:r>
          </a:p>
          <a:p>
            <a:pPr>
              <a:defRPr sz="1300">
                <a:solidFill>
                  <a:srgbClr val="F59E0B"/>
                </a:solidFill>
                <a:latin typeface="Segoe UI"/>
              </a:defRPr>
            </a:pPr>
            <a:r>
              <a:t>National 3D Volumetric Cadastre &amp; Colony Digital Twin Platform</a:t>
            </a:r>
            <a:br/>
            <a:r>
              <a:t>Survey of India • Department of Land Resources (DoLR) • SVAMITVA Scheme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420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Transforming India's 2D land records into legally verifiable 3D Volumetric Digital Twins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Strict compliance with ISO 19152 LADM 3D &amp; NIC 14-Digit ULPIN Standard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UIDAI-compliant Zero-Knowledge e-KYC privacy masking &amp; automated municipal FAR validation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Full-stack dual-cloud deployment ready on Vercel (Frontend) and Render (FastAPI)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0B"/>
          </a:solidFill>
          <a:ln>
            <a:solidFill>
              <a:srgbClr val="080D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The National Crisis: Why 2D Cadastre Fails Modern India</a:t>
            </a:r>
          </a:p>
          <a:p>
            <a:pPr>
              <a:defRPr sz="1300">
                <a:solidFill>
                  <a:srgbClr val="F59E0B"/>
                </a:solidFill>
                <a:latin typeface="Segoe UI"/>
              </a:defRPr>
            </a:pPr>
            <a:r>
              <a:t>Over 66% of all civil litigations in India stem from land title disputes (NITI Aayog)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420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Vertical Strata Vacuum: Flat buyers have no geographic boundary—only a flat number on paper.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Subterranean Blind Spots: Deep building pilings collide with underground Metro tunnels &amp; utilities.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Builder Fraud &amp; Airspace Over-Sale: Selling unauthorized extra floors beyond Master Plan FAR/FSI limits.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Municipal Encroachments: Private cantilevers overhang statutory road Right-of-Way (RoW).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Ambiguous Undivided Share (UDS): No mathematical certainty on land share in redevelopment.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0B"/>
          </a:solidFill>
          <a:ln>
            <a:solidFill>
              <a:srgbClr val="080D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The Solution: 3D Volumetric Cadastre &amp; Colony Digital Twin</a:t>
            </a:r>
          </a:p>
          <a:p>
            <a:pPr>
              <a:defRPr sz="1300">
                <a:solidFill>
                  <a:srgbClr val="F59E0B"/>
                </a:solidFill>
                <a:latin typeface="Segoe UI"/>
              </a:defRPr>
            </a:pPr>
            <a:r>
              <a:t>Extending 2D Bhu-Aadhaar into volumetric 3D legal property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420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Millimeter-Accurate Z-Elevation: Documenting lower (Z-min) and upper (Z-max) heights MSL.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Clean Sub-Unit ULPIN Syntax: &lt;14-Digit-Root-ULPIN&gt;/&lt;Floor-Code&gt;/&lt;Unit-ID&gt;.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Strata Common Area Allocation: Dedicated lift cores, fire stairwells, and UDS / 1000 calculation.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Subterranean Infrastructure: -18m Metro transit tunnel &amp; utility mains with X-Ray inspection.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Government Asset Protection: Panchayat Bhawans, PHC clinics, and Amrit Sarovars clearly secured.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0B"/>
          </a:solidFill>
          <a:ln>
            <a:solidFill>
              <a:srgbClr val="080D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Mathematical 2D-to-3D Extrusion Engine Pipeline</a:t>
            </a:r>
          </a:p>
          <a:p>
            <a:pPr>
              <a:defRPr sz="1300">
                <a:solidFill>
                  <a:srgbClr val="F59E0B"/>
                </a:solidFill>
                <a:latin typeface="Segoe UI"/>
              </a:defRPr>
            </a:pPr>
            <a:r>
              <a:t>8-Stage automated geometry pipeline converting DXF/Shapefiles into 3D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420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1. Metric Projection: Projects WGS84 Lat/Lng to local UTM 43N metric survey grids.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2. Shoelace Area Formula: Computes plot area in Sq.Meters, Gaj (Sq.Yards), and Bigha.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3. NIC 14-Digit ULPIN Algorithm: Cryptographically encodes parcel centroid into 14 characters.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4. Minkowski Setback Buffering: Offsets plot boundary by front, side, and rear statutory buffers.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5. Volumetric Stratification: Extrudes basements, plinths, strata apartments, and solar roofs.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0B"/>
          </a:solidFill>
          <a:ln>
            <a:solidFill>
              <a:srgbClr val="080D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Official NIC 14-Digit ULPIN &amp; Privacy Architecture</a:t>
            </a:r>
          </a:p>
          <a:p>
            <a:pPr>
              <a:defRPr sz="1300">
                <a:solidFill>
                  <a:srgbClr val="F59E0B"/>
                </a:solidFill>
                <a:latin typeface="Segoe UI"/>
              </a:defRPr>
            </a:pPr>
            <a:r>
              <a:t>Survey of India / NIC standard format &amp; UIDAI zero-knowledge identity masking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420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NIC 14-Digit Root Format: IN2877214100A1 (strictly 14 alphanumeric characters).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Strata Apartment Sub-Unit: IN2877214100A1/L04/U401 (Floor 4, Unit 401).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Subterranean Parking Asset: IN2877214100A1/B01/PARK (Basement Level 1 Parking).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Rooftop Solar Air Rights: IN2877214100A1/RF01/SOLAR (PM Surya Ghar 50 kW Easement).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e-KYC Identity Masking: Replaces raw Aadhaar with eKYC:SHA256:... ZKP anonymous tokens.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0B"/>
          </a:solidFill>
          <a:ln>
            <a:solidFill>
              <a:srgbClr val="080D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Advanced 3D GIS Capabilities &amp; Inspection Tools</a:t>
            </a:r>
          </a:p>
          <a:p>
            <a:pPr>
              <a:defRPr sz="1300">
                <a:solidFill>
                  <a:srgbClr val="F59E0B"/>
                </a:solidFill>
                <a:latin typeface="Segoe UI"/>
              </a:defRPr>
            </a:pPr>
            <a:r>
              <a:t>Cutting-edge spatial tools designed for field revenue officers and inspectors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420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3D Setback Visualizer: Glowing red 3D collision bounding box on Khasra #202 (0.65m balcony overhang).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Satellite Aerial Basemap: 1-click toggle to georeferenced ISRO Bhuvan / aerial orthomosaics.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Interactive 3D Section Plane: Dynamic slicer slider cuts through buildings to reveal interior slabs.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Underground X-Ray Mode: Translucent ground plane reveals deep Metro tunnels &amp; utility networks.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3D Measurement Tool: Point-to-point Euclidean distance measurement in meters and feet.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0B"/>
          </a:solidFill>
          <a:ln>
            <a:solidFill>
              <a:srgbClr val="080D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Revenue Officer File Ingestion &amp; Title Card Export</a:t>
            </a:r>
          </a:p>
          <a:p>
            <a:pPr>
              <a:defRPr sz="1300">
                <a:solidFill>
                  <a:srgbClr val="F59E0B"/>
                </a:solidFill>
                <a:latin typeface="Segoe UI"/>
              </a:defRPr>
            </a:pPr>
            <a:r>
              <a:t>Empowering Patwaris and Tehsildars with automated bulk file 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420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AutoCAD Civil DXF Support: Extracts closed LWPOLYLINE boundaries and multi-floor attributes.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GeoJSON &amp; KML Ingestion: Auto-detects levels=5, floor_height=3.2m, and khasra_no=342/1.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1-Click Bulk Extrusion: Instantly constructs 3D strata buildings without manual field entry.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Signed Property Card Certificate: High-res PDF export with Ashoka Pillar watermark.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Dynamic QR Verification: Links directly to online statutory registry authentication endpoint.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0B"/>
          </a:solidFill>
          <a:ln>
            <a:solidFill>
              <a:srgbClr val="080D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Multilingual Localization &amp; Mobile Optimization</a:t>
            </a:r>
          </a:p>
          <a:p>
            <a:pPr>
              <a:defRPr sz="1300">
                <a:solidFill>
                  <a:srgbClr val="F59E0B"/>
                </a:solidFill>
                <a:latin typeface="Segoe UI"/>
              </a:defRPr>
            </a:pPr>
            <a:r>
              <a:t>Bhashini-inspired language support &amp; tablet-optimized field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420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6 Indian Languages: Instant switching between English, हिन्दी, मराठी, ಕನ್ನಡ, தமிழ், and ગુજરાતી.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Collapsible Tablet Drawer: Responsive drawer navigation designed for Patwaris on field tablets.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Multi-Touch OrbitControls: Single-finger rotate, two-finger pinch-zoom, and smooth panning.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Render Cold-Start Resilience: Visual health monitor auto-switches to local engine during spin-up.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Interactive Hover Tooltips: Explains ULPIN, Khasra, Khatauni, Jamabandi, FAR, and Setbacks.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0B"/>
          </a:solidFill>
          <a:ln>
            <a:solidFill>
              <a:srgbClr val="080D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National Feasibility, Viability &amp; Economic Impact</a:t>
            </a:r>
          </a:p>
          <a:p>
            <a:pPr>
              <a:defRPr sz="1300">
                <a:solidFill>
                  <a:srgbClr val="F59E0B"/>
                </a:solidFill>
                <a:latin typeface="Segoe UI"/>
              </a:defRPr>
            </a:pPr>
            <a:r>
              <a:t>Quantifiable economic and governance benefits for Digital India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420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₹1,000+ Crore Litigation Savings: Eliminates title ambiguity in multi-storey urban buildings.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18-24% Municipal Revenue Growth: Accurate 3D volumetric property tax unit area assessments.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Instant Bank Mortgage Clearance: Commercial banks verify clear 3D strata collateral in seconds.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Zero Citizen Fraud: Cryptographic tokens eliminate duplicate sales of the same apartment or airspace.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100% Standards Aligned: Conforms to ISO 19152 LADM, DILRMP, SVAMITVA, and RERA regulations.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0B"/>
          </a:solidFill>
          <a:ln>
            <a:solidFill>
              <a:srgbClr val="080D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Live Demonstration Walkthrough for the Jury</a:t>
            </a:r>
          </a:p>
          <a:p>
            <a:pPr>
              <a:defRPr sz="1300">
                <a:solidFill>
                  <a:srgbClr val="F59E0B"/>
                </a:solidFill>
                <a:latin typeface="Segoe UI"/>
              </a:defRPr>
            </a:pPr>
            <a:r>
              <a:t>Step-by-step 3-minute winning demo sequence using sample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420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1. Colony Overview: Tour Aryavarta Enclave Sector 12 with 24m roads and Govt Complexes.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2. Interactive 3D Slicer: Move vertical height slider to slice open Ganga Heights floors.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3. Encroachment Audit: Click 'Encroachment Mesh' to show Khasra #202 red collision box.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4. Live 2D-to-3D Extrusion: Upload sample_cadastre_plot_342_1.geojson in Officer Portal.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• 5. Export &amp; Languages: Print watermarked Property Card and toggle Bhashini language switcher.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